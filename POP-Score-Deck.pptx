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5303520" cy="679399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FF"/>
                </a:solidFill>
              </a:rPr>
              <a:t>PRIVACY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The Application
Prioritization
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4"/>
                </a:solidFill>
              </a:rPr>
              <a:t>Which app should we onboard to
DSR / privacy workflows first?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4389120" cy="27432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7AFF"/>
                </a:solidFill>
              </a:rPr>
              <a:t>1000s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of apps, fragmented across siloed DBs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8172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7AFF"/>
                </a:solidFill>
              </a:rPr>
              <a:t>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727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new AI bots &amp; data platforms emerging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4009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7AFF"/>
                </a:solidFill>
              </a:rP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3858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systematic, data-driven way to prioritise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02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Why is this hard?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097280"/>
            <a:ext cx="6309360" cy="1170432"/>
          </a:xfrm>
          <a:prstGeom prst="rect">
            <a:avLst/>
          </a:prstGeom>
          <a:solidFill>
            <a:srgbClr val="12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7AFF"/>
                </a:solidFill>
              </a:rPr>
              <a:t>🗄️  Data Sprawl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5087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Hundreds of apps, each backed by different databases —
no single inventory of what data lives where.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423160"/>
            <a:ext cx="6309360" cy="1170432"/>
          </a:xfrm>
          <a:prstGeom prst="rect">
            <a:avLst/>
          </a:prstGeom>
          <a:solidFill>
            <a:srgbClr val="12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514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7AFF"/>
                </a:solidFill>
              </a:rPr>
              <a:t>⚡  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83464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New AI platforms and microservices ship daily. The
privacy inventory is always stale before it starts.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749040"/>
            <a:ext cx="6309360" cy="1170432"/>
          </a:xfrm>
          <a:prstGeom prst="rect">
            <a:avLst/>
          </a:prstGeom>
          <a:solidFill>
            <a:srgbClr val="12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3840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7AFF"/>
                </a:solidFill>
              </a:rPr>
              <a:t>⚖️  Regulatory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1605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GDPR, CCPA, EU AI Act — each demands a Record of
Processing Activities (RoPA) and DSR capability.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5074920"/>
            <a:ext cx="6309360" cy="1170432"/>
          </a:xfrm>
          <a:prstGeom prst="rect">
            <a:avLst/>
          </a:prstGeom>
          <a:solidFill>
            <a:srgbClr val="12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166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7AFF"/>
                </a:solidFill>
              </a:rPr>
              <a:t>🎲  Gut-Feel Prioritisation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4864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Without a score, teams default to loudest stakeholder
or largest brand name — not actual risk.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B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POP Score — Privacy Onboarding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4"/>
                </a:solidFill>
              </a:rPr>
              <a:t>A risk-based, data-driven score that ranks every enterprise application
by its privacy risk — so compliance teams know exactly where to start.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377440"/>
            <a:ext cx="12188952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3657600" cy="1920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3657600" cy="64008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7AFF"/>
                </a:solidFill>
              </a:rPr>
              <a:t>Risk-Based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0–100 composite score.
Higher risk = higher score.
Tiered: Critical → Exception.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514600"/>
            <a:ext cx="3657600" cy="1920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514600"/>
            <a:ext cx="36576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Privacy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2004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Covers Data Minimization,
Retention, RoPA, Sensitive Data,
Financial / Fraud checks.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14600"/>
            <a:ext cx="3657600" cy="1920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514600"/>
            <a:ext cx="3657600" cy="64008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000"/>
                </a:solidFill>
              </a:rPr>
              <a:t>Compliance-Aligned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04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Maps to GDPR Art. 5 &amp; 30,
CCPA § 1798, EU AI Act
risk classification.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B8B"/>
                </a:solidFill>
              </a:rPr>
              <a:t>SCORE TIERS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83480"/>
            <a:ext cx="2743200" cy="1463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54864" cy="1463040"/>
          </a:xfrm>
          <a:prstGeom prst="rect">
            <a:avLst/>
          </a:prstGeom>
          <a:solidFill>
            <a:srgbClr val="E8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074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3A59"/>
                </a:solidFill>
              </a:rPr>
              <a:t>Critical  ≥ 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5321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Immediate onboarding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4983480"/>
            <a:ext cx="2743200" cy="1463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3552" y="4983480"/>
            <a:ext cx="54864" cy="14630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5074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000"/>
                </a:solidFill>
              </a:rPr>
              <a:t>High   60–79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5321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Next sprint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4983480"/>
            <a:ext cx="2743200" cy="1463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983480"/>
            <a:ext cx="54864" cy="14630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5074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Medium 40–59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55321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Backlog — scheduled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89136" y="4983480"/>
            <a:ext cx="2743200" cy="1463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89136" y="4983480"/>
            <a:ext cx="54864" cy="1463040"/>
          </a:xfrm>
          <a:prstGeom prst="rect">
            <a:avLst/>
          </a:prstGeom>
          <a:solidFill>
            <a:srgbClr val="556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8864" y="5074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B8B"/>
                </a:solidFill>
              </a:rPr>
              <a:t>Exception &lt; 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55321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Deprioritised / document rationale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B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000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Scoring Model + Monthly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000"/>
                </a:solidFill>
              </a:rPr>
              <a:t>5 WEIGHTED FACTORS  →  0–100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943600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4864" cy="777240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67AFF"/>
                </a:solidFill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01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494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</a:rPr>
              <a:t>consumer/marketing=100 · internal=40 · backend=20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5943600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54864" cy="777240"/>
          </a:xfrm>
          <a:prstGeom prst="rect">
            <a:avLst/>
          </a:prstGeom>
          <a:solidFill>
            <a:srgbClr val="E8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706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3A59"/>
                </a:solidFill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706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18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</a:rPr>
              <a:t>SSN=100 · Financial=85 · CPNI=70 · none=10  (MAX flag)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5943600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4864" cy="7772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39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A7"/>
                </a:solidFill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393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867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</a:rPr>
              <a:t>Log₁₀-scaled record count  (10M records = 100)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5943600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434840"/>
            <a:ext cx="54864" cy="777240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67AFF"/>
                </a:solidFill>
              </a:rP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5079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Storage Footprint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55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</a:rPr>
              <a:t>Log₁₀-scaled GB  (10 TB = 100)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03520"/>
            <a:ext cx="5943600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03520"/>
            <a:ext cx="54864" cy="7772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766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000"/>
                </a:solidFill>
              </a:rP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76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Retention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724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</a:rPr>
              <a:t>oldest_record_age / policy_days × 100  (capped at 100)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000"/>
                </a:solidFill>
              </a:rPr>
              <a:t>MONTHLY TRIGGER 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828800"/>
            <a:ext cx="5212080" cy="8046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1828800"/>
            <a:ext cx="54864" cy="804672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8928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7AFF"/>
                </a:solidFill>
              </a:rPr>
              <a:t>1. ServiceNow Scheduled Job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2311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Fires monthly — detects new
deployments &amp; DB changes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761488"/>
            <a:ext cx="5212080" cy="8046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2761488"/>
            <a:ext cx="54864" cy="8046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28254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2. CMDB Pull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16382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Fetches all active app CIs
(business function, data flags)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694176"/>
            <a:ext cx="5212080" cy="8046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3694176"/>
            <a:ext cx="54864" cy="804672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37581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000"/>
                </a:solidFill>
              </a:rPr>
              <a:t>3. DB Metadata Scan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0965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Live scan: record count, storage,
oldest record 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626864"/>
            <a:ext cx="5212080" cy="8046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0" y="4626864"/>
            <a:ext cx="54864" cy="804672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4690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7AFF"/>
                </a:solidFill>
              </a:rPr>
              <a:t>4. POP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50292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Scores each app → tier → ranked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559552"/>
            <a:ext cx="5212080" cy="8046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5559552"/>
            <a:ext cx="54864" cy="8046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5623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5. Write Back to ServiceNow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961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Scores pushed to custom table
for dashboards &amp; audit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B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FF"/>
                </a:solidFill>
              </a:rPr>
              <a:t>DESIGN PRINCIPLES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Built for Compliance Teams — Not Engineers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43200" cy="2194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7432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Zero Redeploy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All weights, factors &amp; thresholds
live in config.yaml.
Change the model without touching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463040"/>
            <a:ext cx="2743200" cy="2194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1463040"/>
            <a:ext cx="2743200" cy="64008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7AFF"/>
                </a:solidFill>
              </a:rPr>
              <a:t>Full 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1488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Every score is traceable to
a factor, a weight, and source data.
CSV + JSON run-summary per cycle.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463040"/>
            <a:ext cx="2743200" cy="2194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463040"/>
            <a:ext cx="2743200" cy="64008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000"/>
                </a:solidFill>
              </a:rPr>
              <a:t>Privacy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1488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Embeds GDPR Art. 5 &amp; 30, CCPA,
EU AI Act, RoPA, Data Minimization,
Retention, Sensitive Data checks.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1463040"/>
            <a:ext cx="2743200" cy="2194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9136" y="1463040"/>
            <a:ext cx="2743200" cy="64008"/>
          </a:xfrm>
          <a:prstGeom prst="rect">
            <a:avLst/>
          </a:prstGeom>
          <a:solidFill>
            <a:srgbClr val="E8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3A59"/>
                </a:solidFill>
              </a:rPr>
              <a:t>Risk-First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1488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Higher data risk = higher score.
Hard rules: unknown retention
always scores maximum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11430000" cy="27432"/>
          </a:xfrm>
          <a:prstGeom prst="rect">
            <a:avLst/>
          </a:prstGeom>
          <a:solidFill>
            <a:srgbClr val="2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FF"/>
                </a:solidFill>
              </a:rPr>
              <a:t>SAMPLE OUTPUT — LIVE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074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🔴  Salesforce CRM                  95.26  Critical    Consumer · SSN · 7.2M records · past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280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🔴  Customer Mobile App             82.77  Critical    Consumer · CPNI · 8.6M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4865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🟠  Internal HR System              78.70  High        Internal · SSN · 7.3M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🟠  Payment Gateway                 74.31  High        Backend · SSN+Financial · 8.8M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899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🟡  IT Asset Registry               51.71  Medium      Internal · no sensitive flags · 70K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B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